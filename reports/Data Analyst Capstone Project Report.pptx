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861ea7b5946be" /><Relationship Type="http://schemas.openxmlformats.org/officeDocument/2006/relationships/extended-properties" Target="/docProps/app.xml" Id="R88be5397309b42fa" /><Relationship Type="http://schemas.openxmlformats.org/officeDocument/2006/relationships/officeDocument" Target="/ppt/presentation.xml" Id="R036f01c1f58f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efb8f76fe3406d"/>
  </p:sldMasterIdLst>
  <p:notesMasterIdLst>
    <p:notesMasterId xmlns:r="http://schemas.openxmlformats.org/officeDocument/2006/relationships" r:id="Rc517afa13a8e43d3"/>
  </p:notesMasterIdLst>
  <p:sldIdLst>
    <p:sldId xmlns:r="http://schemas.openxmlformats.org/officeDocument/2006/relationships" id="256" r:id="Rffc29442ac704b38"/>
    <p:sldId xmlns:r="http://schemas.openxmlformats.org/officeDocument/2006/relationships" id="257" r:id="Raa22dc81936f4401"/>
    <p:sldId xmlns:r="http://schemas.openxmlformats.org/officeDocument/2006/relationships" id="258" r:id="R0b98d9006ca942b5"/>
    <p:sldId xmlns:r="http://schemas.openxmlformats.org/officeDocument/2006/relationships" id="259" r:id="R636a207666644957"/>
    <p:sldId xmlns:r="http://schemas.openxmlformats.org/officeDocument/2006/relationships" id="260" r:id="R5e421487d0c94ac5"/>
    <p:sldId xmlns:r="http://schemas.openxmlformats.org/officeDocument/2006/relationships" id="261" r:id="Re192beda467449ff"/>
    <p:sldId xmlns:r="http://schemas.openxmlformats.org/officeDocument/2006/relationships" id="262" r:id="Rb6bd92d602fb4fc8"/>
    <p:sldId xmlns:r="http://schemas.openxmlformats.org/officeDocument/2006/relationships" id="263" r:id="Rfa93417553e94fb8"/>
    <p:sldId xmlns:r="http://schemas.openxmlformats.org/officeDocument/2006/relationships" id="264" r:id="Rd42174d154e84b3c"/>
    <p:sldId xmlns:r="http://schemas.openxmlformats.org/officeDocument/2006/relationships" id="265" r:id="R3eeec9e58f8f4d1e"/>
    <p:sldId xmlns:r="http://schemas.openxmlformats.org/officeDocument/2006/relationships" id="266" r:id="R17f0b89b793f4bbc"/>
    <p:sldId xmlns:r="http://schemas.openxmlformats.org/officeDocument/2006/relationships" id="267" r:id="R6ff5a9f723b343c8"/>
    <p:sldId xmlns:r="http://schemas.openxmlformats.org/officeDocument/2006/relationships" id="268" r:id="Ra273c70cf58442d9"/>
    <p:sldId xmlns:r="http://schemas.openxmlformats.org/officeDocument/2006/relationships" id="269" r:id="Rbd0604af23164288"/>
    <p:sldId xmlns:r="http://schemas.openxmlformats.org/officeDocument/2006/relationships" id="270" r:id="R8103d202824b47aa"/>
    <p:sldId xmlns:r="http://schemas.openxmlformats.org/officeDocument/2006/relationships" id="271" r:id="Rafed0a4ceab14cd6"/>
    <p:sldId xmlns:r="http://schemas.openxmlformats.org/officeDocument/2006/relationships" id="272" r:id="Rc870193bcfed415e"/>
    <p:sldId xmlns:r="http://schemas.openxmlformats.org/officeDocument/2006/relationships" id="273" r:id="R57bc7c71f85d47f7"/>
    <p:sldId xmlns:r="http://schemas.openxmlformats.org/officeDocument/2006/relationships" id="274" r:id="Re7e48793a1ef4751"/>
    <p:sldId xmlns:r="http://schemas.openxmlformats.org/officeDocument/2006/relationships" id="275" r:id="Ra5c9926bc2ea44f6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authors.xml><?xml version="1.0" encoding="utf-8"?>
<p188:authorLst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1ccdc47ce24241" /><Relationship Type="http://schemas.openxmlformats.org/officeDocument/2006/relationships/slideMaster" Target="/ppt/slideMasters/slideMaster1.xml" Id="R09efb8f76fe3406d" /><Relationship Type="http://schemas.openxmlformats.org/officeDocument/2006/relationships/notesMaster" Target="/ppt/notesMasters/notesMaster1.xml" Id="Rc517afa13a8e43d3" /><Relationship Type="http://schemas.openxmlformats.org/officeDocument/2006/relationships/presProps" Target="/ppt/presProps.xml" Id="R49f12c86ee7a446f" /><Relationship Type="http://schemas.openxmlformats.org/officeDocument/2006/relationships/viewProps" Target="/ppt/viewProps.xml" Id="R8d0f1dbcba3346a3" /><Relationship Type="http://schemas.openxmlformats.org/officeDocument/2006/relationships/tableStyles" Target="/ppt/tableStyles.xml" Id="R7ff7d6ef52ca474e" /><Relationship Type="http://schemas.microsoft.com/office/2018/10/relationships/authors" Target="/ppt/authors.xml" Id="Rbfd97680a6424bd2" /><Relationship Type="http://schemas.openxmlformats.org/officeDocument/2006/relationships/slide" Target="/ppt/slides/slide1.xml" Id="Rffc29442ac704b38" /><Relationship Type="http://schemas.openxmlformats.org/officeDocument/2006/relationships/slide" Target="/ppt/slides/slide2.xml" Id="Raa22dc81936f4401" /><Relationship Type="http://schemas.openxmlformats.org/officeDocument/2006/relationships/slide" Target="/ppt/slides/slide3.xml" Id="R0b98d9006ca942b5" /><Relationship Type="http://schemas.openxmlformats.org/officeDocument/2006/relationships/slide" Target="/ppt/slides/slide4.xml" Id="R636a207666644957" /><Relationship Type="http://schemas.openxmlformats.org/officeDocument/2006/relationships/slide" Target="/ppt/slides/slide5.xml" Id="R5e421487d0c94ac5" /><Relationship Type="http://schemas.openxmlformats.org/officeDocument/2006/relationships/slide" Target="/ppt/slides/slide6.xml" Id="Re192beda467449ff" /><Relationship Type="http://schemas.openxmlformats.org/officeDocument/2006/relationships/slide" Target="/ppt/slides/slide7.xml" Id="Rb6bd92d602fb4fc8" /><Relationship Type="http://schemas.openxmlformats.org/officeDocument/2006/relationships/slide" Target="/ppt/slides/slide8.xml" Id="Rfa93417553e94fb8" /><Relationship Type="http://schemas.openxmlformats.org/officeDocument/2006/relationships/slide" Target="/ppt/slides/slide9.xml" Id="Rd42174d154e84b3c" /><Relationship Type="http://schemas.openxmlformats.org/officeDocument/2006/relationships/slide" Target="/ppt/slides/slide10.xml" Id="R3eeec9e58f8f4d1e" /><Relationship Type="http://schemas.openxmlformats.org/officeDocument/2006/relationships/slide" Target="/ppt/slides/slide11.xml" Id="R17f0b89b793f4bbc" /><Relationship Type="http://schemas.openxmlformats.org/officeDocument/2006/relationships/slide" Target="/ppt/slides/slide12.xml" Id="R6ff5a9f723b343c8" /><Relationship Type="http://schemas.openxmlformats.org/officeDocument/2006/relationships/slide" Target="/ppt/slides/slide13.xml" Id="Ra273c70cf58442d9" /><Relationship Type="http://schemas.openxmlformats.org/officeDocument/2006/relationships/slide" Target="/ppt/slides/slide14.xml" Id="Rbd0604af23164288" /><Relationship Type="http://schemas.openxmlformats.org/officeDocument/2006/relationships/slide" Target="/ppt/slides/slide15.xml" Id="R8103d202824b47aa" /><Relationship Type="http://schemas.openxmlformats.org/officeDocument/2006/relationships/slide" Target="/ppt/slides/slide16.xml" Id="Rafed0a4ceab14cd6" /><Relationship Type="http://schemas.openxmlformats.org/officeDocument/2006/relationships/slide" Target="/ppt/slides/slide17.xml" Id="Rc870193bcfed415e" /><Relationship Type="http://schemas.openxmlformats.org/officeDocument/2006/relationships/slide" Target="/ppt/slides/slide18.xml" Id="R57bc7c71f85d47f7" /><Relationship Type="http://schemas.openxmlformats.org/officeDocument/2006/relationships/slide" Target="/ppt/slides/slide19.xml" Id="Re7e48793a1ef4751" /><Relationship Type="http://schemas.openxmlformats.org/officeDocument/2006/relationships/slide" Target="/ppt/slides/slide20.xml" Id="Ra5c9926bc2ea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61831b330f40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IBM Skills Networ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9a07a490ba4402" /><Relationship Type="http://schemas.openxmlformats.org/officeDocument/2006/relationships/notesMaster" Target="/ppt/notesMasters/notesMaster1.xml" Id="R8fba4893b54b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946fbf337a4982" /><Relationship Type="http://schemas.openxmlformats.org/officeDocument/2006/relationships/notesMaster" Target="/ppt/notesMasters/notesMaster1.xml" Id="Rd76c94961975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10a8fdfea6469f" /><Relationship Type="http://schemas.openxmlformats.org/officeDocument/2006/relationships/notesMaster" Target="/ppt/notesMasters/notesMaster1.xml" Id="R43dab352b4f94f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10562e5a2d4819" /><Relationship Type="http://schemas.openxmlformats.org/officeDocument/2006/relationships/notesMaster" Target="/ppt/notesMasters/notesMaster1.xml" Id="Ra69d77f3f114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1013d1a574861" /><Relationship Type="http://schemas.openxmlformats.org/officeDocument/2006/relationships/notesMaster" Target="/ppt/notesMasters/notesMaster1.xml" Id="R761036224f994b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2dbe1e899e4dfb" /><Relationship Type="http://schemas.openxmlformats.org/officeDocument/2006/relationships/notesMaster" Target="/ppt/notesMasters/notesMaster1.xml" Id="R0a55d1e02c32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630b3a325457e" /><Relationship Type="http://schemas.openxmlformats.org/officeDocument/2006/relationships/notesMaster" Target="/ppt/notesMasters/notesMaster1.xml" Id="R6e5fb46737f7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8e4b8baf114b40" /><Relationship Type="http://schemas.openxmlformats.org/officeDocument/2006/relationships/notesMaster" Target="/ppt/notesMasters/notesMaster1.xml" Id="R18b1f7f0d4ae43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6775c067584cde" /><Relationship Type="http://schemas.openxmlformats.org/officeDocument/2006/relationships/notesMaster" Target="/ppt/notesMasters/notesMaster1.xml" Id="R1cc254776a7244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4f9dc0192b4847" /><Relationship Type="http://schemas.openxmlformats.org/officeDocument/2006/relationships/notesMaster" Target="/ppt/notesMasters/notesMaster1.xml" Id="R534624308b014e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8d4f9dd07d4abd" /><Relationship Type="http://schemas.openxmlformats.org/officeDocument/2006/relationships/notesMaster" Target="/ppt/notesMasters/notesMaster1.xml" Id="R35d89362798542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0d44fe00dc4d84" /><Relationship Type="http://schemas.openxmlformats.org/officeDocument/2006/relationships/notesMaster" Target="/ppt/notesMasters/notesMaster1.xml" Id="Rfbbb325cad8644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328d0e8cc5415d" /><Relationship Type="http://schemas.openxmlformats.org/officeDocument/2006/relationships/notesMaster" Target="/ppt/notesMasters/notesMaster1.xml" Id="Red7d9fb213324e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091d0fac644f6d" /><Relationship Type="http://schemas.openxmlformats.org/officeDocument/2006/relationships/notesMaster" Target="/ppt/notesMasters/notesMaster1.xml" Id="Raa70a48185014f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2fc94f41804b72" /><Relationship Type="http://schemas.openxmlformats.org/officeDocument/2006/relationships/notesMaster" Target="/ppt/notesMasters/notesMaster1.xml" Id="Rfc5a745ee30747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4497d64ab343f5" /><Relationship Type="http://schemas.openxmlformats.org/officeDocument/2006/relationships/notesMaster" Target="/ppt/notesMasters/notesMaster1.xml" Id="R7c052232f9d945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c9d48cb68c40b8" /><Relationship Type="http://schemas.openxmlformats.org/officeDocument/2006/relationships/notesMaster" Target="/ppt/notesMasters/notesMaster1.xml" Id="Rc8072e26a52846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a816f5c1c144fb" /><Relationship Type="http://schemas.openxmlformats.org/officeDocument/2006/relationships/notesMaster" Target="/ppt/notesMasters/notesMaster1.xml" Id="Ra2011b06082e4f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d6f044da2849e1" /><Relationship Type="http://schemas.openxmlformats.org/officeDocument/2006/relationships/notesMaster" Target="/ppt/notesMasters/notesMaster1.xml" Id="R91a5b3aeb4b24a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36199a02df4c2a" /><Relationship Type="http://schemas.openxmlformats.org/officeDocument/2006/relationships/notesMaster" Target="/ppt/notesMasters/notesMaster1.xml" Id="Rc28b578dd84f49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  <a:p xmlns:a="http://schemas.openxmlformats.org/drawingml/2006/main">
            <a:r>
              <a:t>Jobs: https://cf-courses-data.s3.us.cloud-object-storage.appdomain.cloud/IBM-DA0321EN-SkillsNetwork/labs/module%201/Accessing%20Data%20Using%20APIs/jobs.json</a:t>
            </a:r>
          </a:p>
          <a:p xmlns:a="http://schemas.openxmlformats.org/drawingml/2006/main">
            <a:r>
              <a:t>Salary exercise: https://cf-courses-data.s3.us.cloud-object-storage.appdomain.cloud/IBM-DA0321EN-SkillsNetwork/labs/datasets/Programming_Languages.html</a:t>
            </a:r>
          </a:p>
          <a:p xmlns:a="http://schemas.openxmlformats.org/drawingml/2006/main">
            <a:r>
              <a:t>Local API reproduces the course’s case-sensitive substring matching. Bounded case-insensitive matching appears as a comparison. Exact duplicate removal leaves unique ResponseId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https://cf-courses-data.s3.us.cloud-object-storage.appdomain.cloud/IBM-DA0321EN-SkillsNetwork/labs/module%201/Accessing%20Data%20Using%20APIs/jobs.json</a:t>
            </a:r>
          </a:p>
          <a:p xmlns:a="http://schemas.openxmlformats.org/drawingml/2006/main">
            <a:r>
              <a:t>CourseMatches uses the supplied case-sensitive substring rule. BoundedMatches uses case-insensitive word boundaries. C course/bounded: 13,498/961. Java: 2,609/1,601. These modified teaching records do not establish current job demand. Descending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https://cf-courses-data.s3.us.cloud-object-storage.appdomain.cloud/IBM-DA0321EN-SkillsNetwork/labs/datasets/Programming_Languages.html</a:t>
            </a:r>
          </a:p>
          <a:p xmlns:a="http://schemas.openxmlformats.org/drawingml/2006/main">
            <a:r>
              <a:t>Extracted ten rows from the provided course HTML. These values lack a stated sample size, date and methodology. They do not estimate future earnings. Descending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  <a:p xmlns:a="http://schemas.openxmlformats.org/drawingml/2006/main">
            <a:r>
              <a:t>Dashboard screenshot captured in Chrome. This is the project’s local Plotly portfolio dashboard. It is not a Cognos or Google Looker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  <a:p xmlns:a="http://schemas.openxmlformats.org/drawingml/2006/main">
            <a:r>
              <a:t>Dashboard screenshot captured in Chrome. This is the project’s local Plotly portfolio dashboard. It is not a Cognos or Google Looker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  <a:p xmlns:a="http://schemas.openxmlformats.org/drawingml/2006/main">
            <a:r>
              <a:t>Dashboard screenshot captured in Chrome. This is the project’s local Plotly portfolio dashboard. It is not a Cognos or Google Looker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Data Analyst capstone. Survey: https://cf-courses-data.s3.us.cloud-object-storage.appdomain.cloud/VYPrOu0Vs3I0hKLLjiPGrA/survey-data-with-duplicate.csv</a:t>
            </a:r>
          </a:p>
          <a:p xmlns:a="http://schemas.openxmlformats.org/drawingml/2006/main">
            <a:r>
              <a:t>2024 Stack Overflow Developer Survey course copy. Source license: Open Database License. Analysis developed with AI assistance. Current and future-interest questions permit multiple choices. Percentages use all 65,437 unique respondents. Notebook and aggregate CSVs accompany this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ec95a25244db0" /><Relationship Type="http://schemas.openxmlformats.org/officeDocument/2006/relationships/image" Target="/ppt/media/image2.png" Id="R29e0671cf16441db" /><Relationship Type="http://schemas.openxmlformats.org/officeDocument/2006/relationships/image" Target="/ppt/media/image.svg" Id="R1495050ca1424463" /><Relationship Type="http://schemas.openxmlformats.org/officeDocument/2006/relationships/image" Target="/ppt/media/image3.png" Id="R4b87f09fb3e348ef" /><Relationship Type="http://schemas.openxmlformats.org/officeDocument/2006/relationships/image" Target="/ppt/media/image2.svg" Id="R7b63ecdbc9e54626" /><Relationship Type="http://schemas.openxmlformats.org/officeDocument/2006/relationships/image" Target="/ppt/media/image4.png" Id="R3ccb7683e02a41c7" /><Relationship Type="http://schemas.openxmlformats.org/officeDocument/2006/relationships/image" Target="/ppt/media/image3.svg" Id="Rc4443b7166584c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d3e91b31141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ca88e8a0f46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a602618bd4b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80bcc392a42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a36f1a2b34029" /></Relationships>
</file>

<file path=ppt/slideLayouts/slideLayout1.xml><?xml version="1.0" encoding="utf-8"?>
<p:sldLayout xmlns:p="http://schemas.openxmlformats.org/presentationml/2006/main" showMasterSp="0" preserve="1">
  <p:cSld name="Title Slide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5A0C89-8ACF-4EBB-B851-4D720D08AC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13873" y="1168401"/>
            <a:ext cx="10964254" cy="238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 b="0" i="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7A869AE-495B-4848-9E98-6EF60C2CE6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8273" y="3731247"/>
            <a:ext cx="9135454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7BEAD913-7DA2-4223-9EDB-7436D0C6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649111"/>
            <a:ext cx="643128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C4D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987F912-2ABB-4C94-B84A-10A345D4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580" y="5537419"/>
            <a:ext cx="4004840" cy="304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lIns="92075" tIns="46038" rIns="92075" bIns="46038"/>
          <a:lstStyle xmlns:a="http://schemas.openxmlformats.org/drawingml/2006/main">
            <a:lvl1pPr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r"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r"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r"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r">
              <a:spcBef>
                <a:spcPct val="0"/>
              </a:spcBef>
              <a:spcAft>
                <a:spcPct val="0"/>
              </a:spcAft>
              <a:buNone/>
              <a:defRPr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000000"/>
                </a:solidFill>
                <a:latin typeface="Helv"/>
                <a:ea typeface="Helv"/>
                <a:cs typeface="Helv"/>
              </a:rPr>
              <a:t>© IBM Corporation. All rights reserved.</a:t>
            </a:r>
          </a:p>
        </p:txBody>
      </p:sp>
      <p:pic>
        <p:nvPicPr>
          <p:cNvPr id="6" name="Graphic 5">
            <a:extLst xmlns:a="http://schemas.openxmlformats.org/drawingml/2006/main">
              <a:ext uri="{FF2B5EF4-FFF2-40B4-BE49-F238E27FC236}">
                <a16:creationId xmlns:a16="http://schemas.microsoft.com/office/drawing/2014/main" id="{B659EA95-E4BB-4424-B919-57FC6BDA9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0671cf16441db">
            <a:extLst>
              <a:ext uri="{96DAC541-7B7A-43D3-8B79-37D633B846F1}">
                <asvg:svgBlip xmlns:asvg="http://schemas.microsoft.com/office/drawing/2016/SVG/main" r:embed="R1495050ca14244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337887" y="6372553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11" name="Graphic 10" hidden="1">
            <a:extLst xmlns:a="http://schemas.openxmlformats.org/drawingml/2006/main">
              <a:ext uri="{FF2B5EF4-FFF2-40B4-BE49-F238E27FC236}">
                <a16:creationId xmlns:a16="http://schemas.microsoft.com/office/drawing/2014/main" id="{9111F199-844E-47F1-B99E-10A87FD468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7f09fb3e348ef">
            <a:extLst>
              <a:ext uri="{96DAC541-7B7A-43D3-8B79-37D633B846F1}">
                <asvg:svgBlip xmlns:asvg="http://schemas.microsoft.com/office/drawing/2016/SVG/main" r:embed="R7b63ecdbc9e546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337887" y="6614943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12" name="Graphic 11" hidden="1">
            <a:extLst xmlns:a="http://schemas.openxmlformats.org/drawingml/2006/main">
              <a:ext uri="{FF2B5EF4-FFF2-40B4-BE49-F238E27FC236}">
                <a16:creationId xmlns:a16="http://schemas.microsoft.com/office/drawing/2014/main" id="{BAC4ED94-E4F9-4168-82F2-80F95BDB6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7f09fb3e348ef">
            <a:extLst>
              <a:ext uri="{96DAC541-7B7A-43D3-8B79-37D633B846F1}">
                <asvg:svgBlip xmlns:asvg="http://schemas.microsoft.com/office/drawing/2016/SVG/main" r:embed="R7b63ecdbc9e546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0" flipV="0">
            <a:off x="11765331" y="6429941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13" name="Graphic 12" hidden="1">
            <a:extLst xmlns:a="http://schemas.openxmlformats.org/drawingml/2006/main">
              <a:ext uri="{FF2B5EF4-FFF2-40B4-BE49-F238E27FC236}">
                <a16:creationId xmlns:a16="http://schemas.microsoft.com/office/drawing/2014/main" id="{5613DA35-7CBE-43E7-9E26-23372851BE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7f09fb3e348ef">
            <a:extLst>
              <a:ext uri="{96DAC541-7B7A-43D3-8B79-37D633B846F1}">
                <asvg:svgBlip xmlns:asvg="http://schemas.microsoft.com/office/drawing/2016/SVG/main" r:embed="R7b63ecdbc9e546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0" flipV="0">
            <a:off x="10909855" y="6429941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14" name="Graphic 13">
            <a:extLst xmlns:a="http://schemas.openxmlformats.org/drawingml/2006/main">
              <a:ext uri="{FF2B5EF4-FFF2-40B4-BE49-F238E27FC236}">
                <a16:creationId xmlns:a16="http://schemas.microsoft.com/office/drawing/2014/main" id="{214082D9-7059-4AE8-A394-A257ADBECE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b7683e02a41c7">
            <a:extLst>
              <a:ext uri="{96DAC541-7B7A-43D3-8B79-37D633B846F1}">
                <asvg:svgBlip xmlns:asvg="http://schemas.microsoft.com/office/drawing/2016/SVG/main" r:embed="Rc4443b7166584c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053" y="6372101"/>
            <a:ext cx="1630680" cy="2476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860434-C3B1-4189-AD78-BAFB320DB5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525252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F4ED4D-F8B6-401D-B306-4F4FC814AA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600199"/>
            <a:ext cx="10744200" cy="4572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262626"/>
                </a:solidFill>
              </a:defRPr>
            </a:lvl1pPr>
            <a:lvl2pPr>
              <a:buNone/>
              <a:defRPr>
                <a:solidFill>
                  <a:srgbClr val="262626"/>
                </a:solidFill>
              </a:defRPr>
            </a:lvl2pPr>
            <a:lvl3pPr>
              <a:buNone/>
              <a:defRPr>
                <a:solidFill>
                  <a:srgbClr val="262626"/>
                </a:solidFill>
              </a:defRPr>
            </a:lvl3pPr>
            <a:lvl4pPr>
              <a:buNone/>
              <a:defRPr>
                <a:solidFill>
                  <a:srgbClr val="262626"/>
                </a:solidFill>
              </a:defRPr>
            </a:lvl4pPr>
            <a:lvl5pPr>
              <a:buNone/>
              <a:defRPr>
                <a:solidFill>
                  <a:srgbClr val="262626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EDB3F45E-49BD-4C98-B760-15AAF5AB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6645"/>
            <a:ext cx="10515600" cy="36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C4D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3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A2682E-6BB9-431C-873B-53FD26D66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1" i="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9DFF68-BB1B-4835-961A-F7C9BCA218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600200"/>
            <a:ext cx="5181600" cy="4572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262626"/>
                </a:solidFill>
              </a:defRPr>
            </a:lvl1pPr>
            <a:lvl2pPr>
              <a:buNone/>
              <a:defRPr>
                <a:solidFill>
                  <a:srgbClr val="262626"/>
                </a:solidFill>
              </a:defRPr>
            </a:lvl2pPr>
            <a:lvl3pPr>
              <a:buNone/>
              <a:defRPr>
                <a:solidFill>
                  <a:srgbClr val="262626"/>
                </a:solidFill>
              </a:defRPr>
            </a:lvl3pPr>
            <a:lvl4pPr>
              <a:buNone/>
              <a:defRPr>
                <a:solidFill>
                  <a:srgbClr val="525252"/>
                </a:solidFill>
              </a:defRPr>
            </a:lvl4pPr>
            <a:lvl5pPr>
              <a:buNone/>
              <a:defRPr>
                <a:solidFill>
                  <a:srgbClr val="52525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7518F5-8C2A-4B1D-8CD0-62FDDFB53E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600200"/>
            <a:ext cx="5181600" cy="4572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262626"/>
                </a:solidFill>
              </a:defRPr>
            </a:lvl1pPr>
            <a:lvl2pPr>
              <a:buNone/>
              <a:defRPr>
                <a:solidFill>
                  <a:srgbClr val="262626"/>
                </a:solidFill>
              </a:defRPr>
            </a:lvl2pPr>
            <a:lvl3pPr>
              <a:buNone/>
              <a:defRPr>
                <a:solidFill>
                  <a:srgbClr val="262626"/>
                </a:solidFill>
              </a:defRPr>
            </a:lvl3pPr>
            <a:lvl4pPr>
              <a:buNone/>
              <a:defRPr>
                <a:solidFill>
                  <a:srgbClr val="525252"/>
                </a:solidFill>
              </a:defRPr>
            </a:lvl4pPr>
            <a:lvl5pPr>
              <a:buNone/>
              <a:defRPr>
                <a:solidFill>
                  <a:srgbClr val="52525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28A1F20F-BA10-46AB-BDE3-49B9F68E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4249"/>
            <a:ext cx="10515600" cy="368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6C4D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5C50B6FD-B36E-4AAC-8050-809CC659FB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 b="1" i="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>
  <p:cSld name="2_Blank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aa65c725c534a9d" /><Relationship Type="http://schemas.openxmlformats.org/officeDocument/2006/relationships/image" Target="/ppt/media/image2.png" Id="R06ef09e171e741f1" /><Relationship Type="http://schemas.openxmlformats.org/officeDocument/2006/relationships/image" Target="/ppt/media/image.svg" Id="R6458e3b81d2846af" /><Relationship Type="http://schemas.openxmlformats.org/officeDocument/2006/relationships/image" Target="/ppt/media/image3.png" Id="Rc29f98dc217d490c" /><Relationship Type="http://schemas.openxmlformats.org/officeDocument/2006/relationships/image" Target="/ppt/media/image2.svg" Id="R2242e478a1684a35" /><Relationship Type="http://schemas.openxmlformats.org/officeDocument/2006/relationships/image" Target="/ppt/media/image4.png" Id="R08727a2f892144b7" /><Relationship Type="http://schemas.openxmlformats.org/officeDocument/2006/relationships/image" Target="/ppt/media/image3.svg" Id="Re76e2de3dfd54366" /><Relationship Type="http://schemas.openxmlformats.org/officeDocument/2006/relationships/theme" Target="/ppt/slideMasters/theme/theme2.xml" Id="R192bad0788294963" /><Relationship Type="http://schemas.openxmlformats.org/officeDocument/2006/relationships/slideLayout" Target="/ppt/slideLayouts/slideLayout1.xml" Id="R4ff046d330bc43ce" /><Relationship Type="http://schemas.openxmlformats.org/officeDocument/2006/relationships/slideLayout" Target="/ppt/slideLayouts/slideLayout2.xml" Id="R9c29ab61360f4d31" /><Relationship Type="http://schemas.openxmlformats.org/officeDocument/2006/relationships/slideLayout" Target="/ppt/slideLayouts/slideLayout3.xml" Id="Rb7cbb791325e4785" /><Relationship Type="http://schemas.openxmlformats.org/officeDocument/2006/relationships/slideLayout" Target="/ppt/slideLayouts/slideLayout4.xml" Id="R5670533ae1894863" /><Relationship Type="http://schemas.openxmlformats.org/officeDocument/2006/relationships/slideLayout" Target="/ppt/slideLayouts/slideLayout5.xml" Id="R86a7aa6ad39a4424" /><Relationship Type="http://schemas.openxmlformats.org/officeDocument/2006/relationships/slideLayout" Target="/ppt/slideLayouts/slideLayout6.xml" Id="Re5f59ba331294ac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8B451E6-EF5F-4A55-B850-CCD87796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12A7FC-BD21-49A5-844E-3A474F295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47850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02B2F40B-773F-4456-93E0-CE454AEE8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a65c725c534a9d">
            <a:alphaModFix amt="5000"/>
          </a:blip>
          <a:srcRect xmlns:a="http://schemas.openxmlformats.org/drawingml/2006/main" l="-1923" t="0" r="70315" b="0"/>
          <a:stretch xmlns:a="http://schemas.openxmlformats.org/drawingml/2006/main"/>
        </p:blipFill>
        <p:spPr>
          <a:xfrm xmlns:a="http://schemas.openxmlformats.org/drawingml/2006/main">
            <a:off x="3345127" y="1418811"/>
            <a:ext cx="5501746" cy="482613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444" y="2728308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95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#BE95FF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1881" y="2728308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1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#33B1FF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923" y="2728308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B6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#FF7EB6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402" y="2728308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#08BDBA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2453" y="3912427"/>
            <a:ext cx="12378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 i="0">
                <a:solidFill>
                  <a:srgbClr val="FFFFFF"/>
                </a:solidFill>
              </a:rPr>
              <a:t>Purple 40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144" y="3912427"/>
            <a:ext cx="14494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Magenta</a:t>
            </a:r>
            <a:r>
              <a:rPr b="1" i="0">
                <a:solidFill>
                  <a:srgbClr val="FFFFFF"/>
                </a:solidFill>
              </a:rPr>
              <a:t> 40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4771" y="3912427"/>
            <a:ext cx="96635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Teal</a:t>
            </a:r>
            <a:r>
              <a:rPr b="1" i="0">
                <a:solidFill>
                  <a:srgbClr val="FFFFFF"/>
                </a:solidFill>
              </a:rPr>
              <a:t> 40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6642" y="3912427"/>
            <a:ext cx="105509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Cyan</a:t>
            </a:r>
            <a:r>
              <a:rPr b="1" i="0">
                <a:solidFill>
                  <a:srgbClr val="FFFFFF"/>
                </a:solidFill>
              </a:rPr>
              <a:t> 40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444" y="4418033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FFC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#8A3FFC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1881" y="4418033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C3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#0072C3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923" y="4418033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2670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#D02670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402" y="4418033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79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#007D79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2453" y="5602152"/>
            <a:ext cx="12378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 i="0">
                <a:solidFill>
                  <a:srgbClr val="FFFFFF"/>
                </a:solidFill>
              </a:rPr>
              <a:t>Purple 60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144" y="5602152"/>
            <a:ext cx="144802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Magenta</a:t>
            </a:r>
            <a:r>
              <a:rPr b="1" i="0">
                <a:solidFill>
                  <a:srgbClr val="FFFFFF"/>
                </a:solidFill>
              </a:rPr>
              <a:t> 60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4771" y="5602152"/>
            <a:ext cx="9669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Teal</a:t>
            </a:r>
            <a:r>
              <a:rPr b="1" i="0">
                <a:solidFill>
                  <a:srgbClr val="FFFFFF"/>
                </a:solidFill>
              </a:rPr>
              <a:t> 60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6642" y="5602152"/>
            <a:ext cx="105509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Cyan</a:t>
            </a:r>
            <a:r>
              <a:rPr b="1" i="0">
                <a:solidFill>
                  <a:srgbClr val="FFFFFF"/>
                </a:solidFill>
              </a:rPr>
              <a:t> 60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2379" y="2712316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19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Icon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#</a:t>
            </a:r>
            <a:r>
              <a:rPr b="0" i="0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000000</a:t>
            </a:r>
            <a:endParaRPr>
              <a:solidFill>
                <a:schemeClr val="bg2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0690" y="4403963"/>
            <a:ext cx="1264019" cy="12640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Icon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</a:t>
            </a:r>
            <a:r>
              <a:rPr b="0" i="0">
                <a:solidFill>
                  <a:srgbClr val="262626"/>
                </a:solidFill>
                <a:latin typeface="IBM Plex Mono"/>
                <a:ea typeface="IBM Plex Mono"/>
                <a:cs typeface="IBM Plex Mono"/>
              </a:rPr>
              <a:t>FFFFFF</a:t>
            </a:r>
            <a:endParaRPr>
              <a:solidFill>
                <a:srgbClr val="262626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444" y="1072749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#F6F2FF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1881" y="1072749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#E5F6FF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923" y="1072749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7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#FFF0F7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402" y="1072749"/>
            <a:ext cx="1235879" cy="1235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BFB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#D9FBFB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2453" y="2256868"/>
            <a:ext cx="12378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 i="0">
                <a:solidFill>
                  <a:srgbClr val="FFFFFF"/>
                </a:solidFill>
              </a:rPr>
              <a:t>Purple 10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4144" y="2256868"/>
            <a:ext cx="144943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Magenta</a:t>
            </a:r>
            <a:r>
              <a:rPr b="1" i="0">
                <a:solidFill>
                  <a:srgbClr val="FFFFFF"/>
                </a:solidFill>
              </a:rPr>
              <a:t> 10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4771" y="2256868"/>
            <a:ext cx="96635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Teal</a:t>
            </a:r>
            <a:r>
              <a:rPr b="1" i="0">
                <a:solidFill>
                  <a:srgbClr val="FFFFFF"/>
                </a:solidFill>
              </a:rPr>
              <a:t> 10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6642" y="2256868"/>
            <a:ext cx="105509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</a:rPr>
              <a:t>Cyan</a:t>
            </a:r>
            <a:r>
              <a:rPr b="1" i="0">
                <a:solidFill>
                  <a:srgbClr val="FFFFFF"/>
                </a:solidFill>
              </a:rPr>
              <a:t> 10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2135" y="-2341897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C7CD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Text BG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#C1C7CD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2135" y="-801901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8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Text BG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#F2F4F8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7282" y="-2352139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95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Text BG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#BE95FF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7282" y="-812143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1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Text BG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#33B1FF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429" y="-2309174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Text BG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#08BDBA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429" y="-769178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9FF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Text BG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tx1"/>
                </a:solidFill>
                <a:latin typeface="IBM Plex Sans"/>
                <a:ea typeface="IBM Plex Sans"/>
                <a:cs typeface="IBM Plex Sans"/>
              </a:rPr>
              <a:t>#78A9FF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3876" y="-2309174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5252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Labels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#525252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3875" y="-812143"/>
            <a:ext cx="1267863" cy="12678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chemeClr val="bg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Text</a:t>
            </a:r>
          </a:p>
          <a:p xmlns:a="http://schemas.openxmlformats.org/drawingml/2006/main">
            <a:pPr algn="ctr">
              <a:buNone/>
            </a:pPr>
            <a:r>
              <a:rPr>
                <a:solidFill>
                  <a:schemeClr val="bg2"/>
                </a:solidFill>
                <a:latin typeface="IBM Plex Sans"/>
                <a:ea typeface="IBM Plex Sans"/>
                <a:cs typeface="IBM Plex Sans"/>
              </a:rPr>
              <a:t>#262626</a:t>
            </a:r>
          </a:p>
        </p:txBody>
      </p:sp>
      <p:pic>
        <p:nvPicPr>
          <p:cNvPr id="60" name="Graphic 59">
            <a:extLst xmlns:a="http://schemas.openxmlformats.org/drawingml/2006/main">
              <a:ext uri="{FF2B5EF4-FFF2-40B4-BE49-F238E27FC236}">
                <a16:creationId xmlns:a16="http://schemas.microsoft.com/office/drawing/2014/main" id="{26D99725-9386-40CE-AC7E-88D582063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f09e171e741f1">
            <a:extLst>
              <a:ext uri="{96DAC541-7B7A-43D3-8B79-37D633B846F1}">
                <asvg:svgBlip xmlns:asvg="http://schemas.microsoft.com/office/drawing/2016/SVG/main" r:embed="R6458e3b81d2846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337887" y="6372553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61" name="Graphic 60" hidden="1">
            <a:extLst xmlns:a="http://schemas.openxmlformats.org/drawingml/2006/main">
              <a:ext uri="{FF2B5EF4-FFF2-40B4-BE49-F238E27FC236}">
                <a16:creationId xmlns:a16="http://schemas.microsoft.com/office/drawing/2014/main" id="{D2CB6B49-30D1-4406-95FF-FF61533E9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f98dc217d490c">
            <a:extLst>
              <a:ext uri="{96DAC541-7B7A-43D3-8B79-37D633B846F1}">
                <asvg:svgBlip xmlns:asvg="http://schemas.microsoft.com/office/drawing/2016/SVG/main" r:embed="R2242e478a1684a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337887" y="6614943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62" name="Graphic 61" hidden="1">
            <a:extLst xmlns:a="http://schemas.openxmlformats.org/drawingml/2006/main">
              <a:ext uri="{FF2B5EF4-FFF2-40B4-BE49-F238E27FC236}">
                <a16:creationId xmlns:a16="http://schemas.microsoft.com/office/drawing/2014/main" id="{E1267A1F-1ED0-48BD-BAB6-9DD798F15C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f98dc217d490c">
            <a:extLst>
              <a:ext uri="{96DAC541-7B7A-43D3-8B79-37D633B846F1}">
                <asvg:svgBlip xmlns:asvg="http://schemas.microsoft.com/office/drawing/2016/SVG/main" r:embed="R2242e478a1684a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0" flipV="0">
            <a:off x="11765331" y="6429941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63" name="Graphic 62" hidden="1">
            <a:extLst xmlns:a="http://schemas.openxmlformats.org/drawingml/2006/main">
              <a:ext uri="{FF2B5EF4-FFF2-40B4-BE49-F238E27FC236}">
                <a16:creationId xmlns:a16="http://schemas.microsoft.com/office/drawing/2014/main" id="{B5A518D6-56D7-44B8-B2CA-E5A1B344C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f98dc217d490c">
            <a:extLst>
              <a:ext uri="{96DAC541-7B7A-43D3-8B79-37D633B846F1}">
                <asvg:svgBlip xmlns:asvg="http://schemas.microsoft.com/office/drawing/2016/SVG/main" r:embed="R2242e478a1684a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200000" flipH="0" flipV="0">
            <a:off x="10909855" y="6429941"/>
            <a:ext cx="613059" cy="243056"/>
          </a:xfrm>
          <a:prstGeom xmlns:a="http://schemas.openxmlformats.org/drawingml/2006/main" prst="rect">
            <a:avLst/>
          </a:prstGeom>
        </p:spPr>
      </p:pic>
      <p:pic>
        <p:nvPicPr>
          <p:cNvPr id="66" name="Graphic 65">
            <a:extLst xmlns:a="http://schemas.openxmlformats.org/drawingml/2006/main">
              <a:ext uri="{FF2B5EF4-FFF2-40B4-BE49-F238E27FC236}">
                <a16:creationId xmlns:a16="http://schemas.microsoft.com/office/drawing/2014/main" id="{E87B2B4F-CD3D-4CED-B7B6-11CBDC09FA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27a2f892144b7">
            <a:extLst>
              <a:ext uri="{96DAC541-7B7A-43D3-8B79-37D633B846F1}">
                <asvg:svgBlip xmlns:asvg="http://schemas.microsoft.com/office/drawing/2016/SVG/main" r:embed="Re76e2de3dfd5436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053" y="6372101"/>
            <a:ext cx="1630680" cy="247650"/>
          </a:xfrm>
          <a:prstGeom xmlns:a="http://schemas.openxmlformats.org/drawingml/2006/main" prst="rect">
            <a:avLst/>
          </a:prstGeom>
        </p:spPr>
      </p:pic>
      <p:sp>
        <p:nvSpPr>
          <p:cNvPr id="67" name="Rectangle 66" hidden="1">
            <a:extLst xmlns:a="http://schemas.openxmlformats.org/drawingml/2006/main"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1" y="6356350"/>
            <a:ext cx="12353925" cy="27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f046d330bc43ce"/>
    <p:sldLayoutId xmlns:r="http://schemas.openxmlformats.org/officeDocument/2006/relationships" id="2147483650" r:id="R9c29ab61360f4d31"/>
    <p:sldLayoutId xmlns:r="http://schemas.openxmlformats.org/officeDocument/2006/relationships" id="2147483651" r:id="Rb7cbb791325e4785"/>
    <p:sldLayoutId xmlns:r="http://schemas.openxmlformats.org/officeDocument/2006/relationships" id="2147483652" r:id="R5670533ae1894863"/>
    <p:sldLayoutId xmlns:r="http://schemas.openxmlformats.org/officeDocument/2006/relationships" id="2147483653" r:id="R86a7aa6ad39a4424"/>
    <p:sldLayoutId xmlns:r="http://schemas.openxmlformats.org/officeDocument/2006/relationships" id="2147483654" r:id="Re5f59ba331294ac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/>
          <a:ea typeface="IBM Plex Sans SemiBold"/>
          <a:cs typeface="IBM Plex Sans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/>
          <a:ea typeface="IBM Plex Sans"/>
          <a:cs typeface="IBM Plex Sans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/>
          <a:ea typeface="IBM Plex Sans"/>
          <a:cs typeface="IBM Plex Sans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/>
          <a:ea typeface="IBM Plex Sans"/>
          <a:cs typeface="IBM Plex Sans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/>
          <a:ea typeface="IBM Plex Sans"/>
          <a:cs typeface="IBM Plex Sans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/>
          <a:ea typeface="IBM Plex Sans"/>
          <a:cs typeface="IBM Plex Sans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IBM Skills Networ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d0c59469554b99" /><Relationship Type="http://schemas.openxmlformats.org/officeDocument/2006/relationships/image" Target="/ppt/media/image5.png" Id="R5a78e1a9086c4433" /><Relationship Type="http://schemas.openxmlformats.org/officeDocument/2006/relationships/notesSlide" Target="/ppt/notesSlides/notesSlide1.xml" Id="R583c12505d8f40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19c8cff4249da" /><Relationship Type="http://schemas.openxmlformats.org/officeDocument/2006/relationships/image" Target="/ppt/media/image6.png" Id="R4d170bbc1b0f41fd" /><Relationship Type="http://schemas.openxmlformats.org/officeDocument/2006/relationships/notesSlide" Target="/ppt/notesSlides/notesSlide2.xml" Id="R32c0b9fb1ea44d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f8a82c1a2849b4" /><Relationship Type="http://schemas.openxmlformats.org/officeDocument/2006/relationships/image" Target="/ppt/media/image7.png" Id="R85c5e4951adb4c32" /><Relationship Type="http://schemas.openxmlformats.org/officeDocument/2006/relationships/notesSlide" Target="/ppt/notesSlides/notesSlide3.xml" Id="R50956115c3e5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6c5e99e96f4925" /><Relationship Type="http://schemas.openxmlformats.org/officeDocument/2006/relationships/image" Target="/ppt/media/image8.png" Id="Ree67ac0daa14497f" /><Relationship Type="http://schemas.openxmlformats.org/officeDocument/2006/relationships/notesSlide" Target="/ppt/notesSlides/notesSlide4.xml" Id="R2cec178c48a24a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72609af2b64918" /><Relationship Type="http://schemas.openxmlformats.org/officeDocument/2006/relationships/image" Target="/ppt/media/image9.png" Id="Ra74960ab555c44f8" /><Relationship Type="http://schemas.openxmlformats.org/officeDocument/2006/relationships/notesSlide" Target="/ppt/notesSlides/notesSlide5.xml" Id="Rc625c2ba75e540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59f4cf86a54edf" /><Relationship Type="http://schemas.openxmlformats.org/officeDocument/2006/relationships/image" Target="/ppt/media/image10.png" Id="R786eefbf9f564fca" /><Relationship Type="http://schemas.openxmlformats.org/officeDocument/2006/relationships/image" Target="/ppt/media/image4.svg" Id="R3f7c0cce2cea41e1" /><Relationship Type="http://schemas.openxmlformats.org/officeDocument/2006/relationships/notesSlide" Target="/ppt/notesSlides/notesSlide6.xml" Id="Rb6aa081cd99d45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f98367c6674f80" /><Relationship Type="http://schemas.openxmlformats.org/officeDocument/2006/relationships/chart" Target="/ppt/slides/charts/chart1.xml" Id="Rf727eab69d5f438b" /><Relationship Type="http://schemas.openxmlformats.org/officeDocument/2006/relationships/notesSlide" Target="/ppt/notesSlides/notesSlide7.xml" Id="R2d727ce635204f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c0b08ce71f46f5" /><Relationship Type="http://schemas.openxmlformats.org/officeDocument/2006/relationships/chart" Target="/ppt/slides/charts/chart2.xml" Id="Re072ff6ff67a4e7d" /><Relationship Type="http://schemas.openxmlformats.org/officeDocument/2006/relationships/notesSlide" Target="/ppt/notesSlides/notesSlide8.xml" Id="Rddbb1dfd570145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9ead50204041b5" /><Relationship Type="http://schemas.openxmlformats.org/officeDocument/2006/relationships/chart" Target="/ppt/slides/charts/chart3.xml" Id="R7496916bbe034abd" /><Relationship Type="http://schemas.openxmlformats.org/officeDocument/2006/relationships/chart" Target="/ppt/slides/charts/chart4.xml" Id="R62420b4a1b8d40a5" /><Relationship Type="http://schemas.openxmlformats.org/officeDocument/2006/relationships/notesSlide" Target="/ppt/notesSlides/notesSlide9.xml" Id="Rd70d5b78b4a74f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74440324c746dc" /><Relationship Type="http://schemas.openxmlformats.org/officeDocument/2006/relationships/notesSlide" Target="/ppt/notesSlides/notesSlide10.xml" Id="Rb2ec48aaab9f40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fbb8b0d021465b" /><Relationship Type="http://schemas.openxmlformats.org/officeDocument/2006/relationships/chart" Target="/ppt/slides/charts/chart5.xml" Id="R2c2ed56b9e1c4ee6" /><Relationship Type="http://schemas.openxmlformats.org/officeDocument/2006/relationships/chart" Target="/ppt/slides/charts/chart6.xml" Id="Rd1c21b55649344e7" /><Relationship Type="http://schemas.openxmlformats.org/officeDocument/2006/relationships/notesSlide" Target="/ppt/notesSlides/notesSlide11.xml" Id="Rd7645b09797743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de8415c78f4337" /><Relationship Type="http://schemas.openxmlformats.org/officeDocument/2006/relationships/notesSlide" Target="/ppt/notesSlides/notesSlide12.xml" Id="Rfefbe1bd52ac45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a6b94c617d4611" /><Relationship Type="http://schemas.openxmlformats.org/officeDocument/2006/relationships/image" Target="/ppt/media/image11.png" Id="R0ee3059eedef4671" /><Relationship Type="http://schemas.openxmlformats.org/officeDocument/2006/relationships/notesSlide" Target="/ppt/notesSlides/notesSlide13.xml" Id="Rd25afe7d128f4e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edeee0bba446a4" /><Relationship Type="http://schemas.openxmlformats.org/officeDocument/2006/relationships/image" Target="/ppt/media/image.jpeg" Id="R4f0e30860fa243cb" /><Relationship Type="http://schemas.openxmlformats.org/officeDocument/2006/relationships/notesSlide" Target="/ppt/notesSlides/notesSlide14.xml" Id="Re40f89f3127541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1ca558411a4153" /><Relationship Type="http://schemas.openxmlformats.org/officeDocument/2006/relationships/image" Target="/ppt/media/image2.jpeg" Id="R02a422b20f4c4b68" /><Relationship Type="http://schemas.openxmlformats.org/officeDocument/2006/relationships/notesSlide" Target="/ppt/notesSlides/notesSlide15.xml" Id="R8431681127114f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050d29ced8464c" /><Relationship Type="http://schemas.openxmlformats.org/officeDocument/2006/relationships/image" Target="/ppt/media/image3.jpeg" Id="R6aa939d3524941ad" /><Relationship Type="http://schemas.openxmlformats.org/officeDocument/2006/relationships/notesSlide" Target="/ppt/notesSlides/notesSlide16.xml" Id="R7a2db792e13d4e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282382e04b43ef" /><Relationship Type="http://schemas.openxmlformats.org/officeDocument/2006/relationships/image" Target="/ppt/media/image11.png" Id="R080801ab34e7439f" /><Relationship Type="http://schemas.openxmlformats.org/officeDocument/2006/relationships/notesSlide" Target="/ppt/notesSlides/notesSlide17.xml" Id="Ra6cea4f90b0340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a558944ca14147" /><Relationship Type="http://schemas.openxmlformats.org/officeDocument/2006/relationships/notesSlide" Target="/ppt/notesSlides/notesSlide18.xml" Id="Rc857fc6e4cad47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7b179bbdf647d6" /><Relationship Type="http://schemas.openxmlformats.org/officeDocument/2006/relationships/image" Target="/ppt/media/image12.png" Id="R5aae0f34acd8462a" /><Relationship Type="http://schemas.openxmlformats.org/officeDocument/2006/relationships/notesSlide" Target="/ppt/notesSlides/notesSlide19.xml" Id="Rc7c9d91a4c2f417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c0832cac3147f3" /><Relationship Type="http://schemas.openxmlformats.org/officeDocument/2006/relationships/image" Target="/ppt/media/image13.png" Id="R00406ac520684284" /><Relationship Type="http://schemas.openxmlformats.org/officeDocument/2006/relationships/notesSlide" Target="/ppt/notesSlides/notesSlide20.xml" Id="R998ca64d867345f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Number of substring matches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62626"/>
              </a:solidFill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CourseMatches</c:v>
          </c:tx>
          <c:spPr>
            <a:solidFill xmlns:a="http://schemas.openxmlformats.org/drawingml/2006/main">
              <a:srgbClr val="145DA0"/>
            </a:solidFill>
          </c:spPr>
          <c:cat>
            <c:strRef>
              <c:f>'Chart Data'!$A$2:$A$13</c:f>
              <c:strCache>
                <c:ptCount val="12"/>
                <c:pt idx="0">
                  <c:v>MySQL Server</c:v>
                </c:pt>
                <c:pt idx="1">
                  <c:v>PostgreSQL</c:v>
                </c:pt>
                <c:pt idx="2">
                  <c:v>Scala</c:v>
                </c:pt>
                <c:pt idx="3">
                  <c:v>MongoDB</c:v>
                </c:pt>
                <c:pt idx="4">
                  <c:v>SQL Server</c:v>
                </c:pt>
                <c:pt idx="5">
                  <c:v>C++</c:v>
                </c:pt>
                <c:pt idx="6">
                  <c:v>C#</c:v>
                </c:pt>
                <c:pt idx="7">
                  <c:v>JavaScript</c:v>
                </c:pt>
                <c:pt idx="8">
                  <c:v>Oracle</c:v>
                </c:pt>
                <c:pt idx="9">
                  <c:v>Python</c:v>
                </c:pt>
                <c:pt idx="10">
                  <c:v>Java</c:v>
                </c:pt>
                <c:pt idx="11">
                  <c:v>C</c:v>
                </c:pt>
              </c:strCache>
            </c:strRef>
          </c:cat>
          <c:val>
            <c:numRef>
              <c:f>'Chart Data'!$B$2:$B$13</c:f>
              <c:numCache>
                <c:formatCode>#,##0</c:formatCode>
                <c:ptCount val="12"/>
                <c:pt idx="0">
                  <c:v>0</c:v>
                </c:pt>
                <c:pt idx="1">
                  <c:v>10</c:v>
                </c:pt>
                <c:pt idx="2">
                  <c:v>33</c:v>
                </c:pt>
                <c:pt idx="3">
                  <c:v>174</c:v>
                </c:pt>
                <c:pt idx="4">
                  <c:v>250</c:v>
                </c:pt>
                <c:pt idx="5">
                  <c:v>305</c:v>
                </c:pt>
                <c:pt idx="6">
                  <c:v>333</c:v>
                </c:pt>
                <c:pt idx="7">
                  <c:v>355</c:v>
                </c:pt>
                <c:pt idx="8">
                  <c:v>784</c:v>
                </c:pt>
                <c:pt idx="9">
                  <c:v>1173</c:v>
                </c:pt>
                <c:pt idx="10">
                  <c:v>2609</c:v>
                </c:pt>
                <c:pt idx="11">
                  <c:v>13498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62626"/>
                  </a:solidFill>
                  <a:latin typeface="IBM Plex Sans"/>
                  <a:ea typeface="IBM Plex Sans"/>
                  <a:cs typeface="IBM Plex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7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50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Annual salary (USD)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62626"/>
              </a:solidFill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AnnualSalaryUSD</c:v>
          </c:tx>
          <c:spPr>
            <a:solidFill xmlns:a="http://schemas.openxmlformats.org/drawingml/2006/main">
              <a:srgbClr val="00847F"/>
            </a:solidFill>
          </c:spPr>
          <c:cat>
            <c:strRef>
              <c:f>'Chart Data'!$A$2:$A$11</c:f>
              <c:strCache>
                <c:ptCount val="10"/>
                <c:pt idx="0">
                  <c:v>PHP</c:v>
                </c:pt>
                <c:pt idx="1">
                  <c:v>SQL</c:v>
                </c:pt>
                <c:pt idx="2">
                  <c:v>C#</c:v>
                </c:pt>
                <c:pt idx="3">
                  <c:v>R</c:v>
                </c:pt>
                <c:pt idx="4">
                  <c:v>Go</c:v>
                </c:pt>
                <c:pt idx="5">
                  <c:v>Java</c:v>
                </c:pt>
                <c:pt idx="6">
                  <c:v>Javascript</c:v>
                </c:pt>
                <c:pt idx="7">
                  <c:v>C++</c:v>
                </c:pt>
                <c:pt idx="8">
                  <c:v>Python</c:v>
                </c:pt>
                <c:pt idx="9">
                  <c:v>Swift</c:v>
                </c:pt>
              </c:strCache>
            </c:strRef>
          </c:cat>
          <c:val>
            <c:numRef>
              <c:f>'Chart Data'!$B$2:$B$11</c:f>
              <c:numCache>
                <c:formatCode>"$"#,##0</c:formatCode>
                <c:ptCount val="10"/>
                <c:pt idx="0">
                  <c:v>84727</c:v>
                </c:pt>
                <c:pt idx="1">
                  <c:v>84793</c:v>
                </c:pt>
                <c:pt idx="2">
                  <c:v>88726</c:v>
                </c:pt>
                <c:pt idx="3">
                  <c:v>92037</c:v>
                </c:pt>
                <c:pt idx="4">
                  <c:v>94082</c:v>
                </c:pt>
                <c:pt idx="5">
                  <c:v>101013</c:v>
                </c:pt>
                <c:pt idx="6">
                  <c:v>110981</c:v>
                </c:pt>
                <c:pt idx="7">
                  <c:v>113865</c:v>
                </c:pt>
                <c:pt idx="8">
                  <c:v>114383</c:v>
                </c:pt>
                <c:pt idx="9">
                  <c:v>130801</c:v>
                </c:pt>
              </c:numCache>
            </c:numRef>
          </c:val>
        </c:ser>
        <c:dLbls>
          <c:numFmt formatCode="&quot;$&quot;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62626"/>
                  </a:solidFill>
                  <a:latin typeface="IBM Plex Sans"/>
                  <a:ea typeface="IBM Plex Sans"/>
                  <a:cs typeface="IBM Plex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7E7"/>
              </a:solidFill>
            </a:ln>
          </c:spPr>
        </c:majorGridlines>
        <c:numFmt formatCode="&quot;$&quot;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Current use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62626"/>
              </a:solidFill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CurrentRespondents</c:v>
          </c:tx>
          <c:spPr>
            <a:solidFill xmlns:a="http://schemas.openxmlformats.org/drawingml/2006/main">
              <a:srgbClr val="145DA0"/>
            </a:solidFill>
          </c:spPr>
          <c:cat>
            <c:strRef>
              <c:f>'Chart Data'!$A$2:$A$11</c:f>
              <c:strCache>
                <c:ptCount val="10"/>
                <c:pt idx="0">
                  <c:v>C</c:v>
                </c:pt>
                <c:pt idx="1">
                  <c:v>C++</c:v>
                </c:pt>
                <c:pt idx="2">
                  <c:v>C#</c:v>
                </c:pt>
                <c:pt idx="3">
                  <c:v>Java</c:v>
                </c:pt>
                <c:pt idx="4">
                  <c:v>Bash/Shell</c:v>
                </c:pt>
                <c:pt idx="5">
                  <c:v>TypeScript</c:v>
                </c:pt>
                <c:pt idx="6">
                  <c:v>SQL</c:v>
                </c:pt>
                <c:pt idx="7">
                  <c:v>Python</c:v>
                </c:pt>
                <c:pt idx="8">
                  <c:v>HTML/CSS</c:v>
                </c:pt>
                <c:pt idx="9">
                  <c:v>JavaScript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12184</c:v>
                </c:pt>
                <c:pt idx="1">
                  <c:v>13827</c:v>
                </c:pt>
                <c:pt idx="2">
                  <c:v>16318</c:v>
                </c:pt>
                <c:pt idx="3">
                  <c:v>18239</c:v>
                </c:pt>
                <c:pt idx="4">
                  <c:v>20412</c:v>
                </c:pt>
                <c:pt idx="5">
                  <c:v>23150</c:v>
                </c:pt>
                <c:pt idx="6">
                  <c:v>30682</c:v>
                </c:pt>
                <c:pt idx="7">
                  <c:v>30719</c:v>
                </c:pt>
                <c:pt idx="8">
                  <c:v>31816</c:v>
                </c:pt>
                <c:pt idx="9">
                  <c:v>37492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62626"/>
                  </a:solidFill>
                  <a:latin typeface="IBM Plex Sans"/>
                  <a:ea typeface="IBM Plex Sans"/>
                  <a:cs typeface="IBM Plex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7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Future interest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62626"/>
              </a:solidFill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DesiredRespondents</c:v>
          </c:tx>
          <c:spPr>
            <a:solidFill xmlns:a="http://schemas.openxmlformats.org/drawingml/2006/main">
              <a:srgbClr val="00847F"/>
            </a:solidFill>
          </c:spPr>
          <c:cat>
            <c:strRef>
              <c:f>'Chart Data'!$A$2:$A$11</c:f>
              <c:strCache>
                <c:ptCount val="10"/>
                <c:pt idx="0">
                  <c:v>C++</c:v>
                </c:pt>
                <c:pt idx="1">
                  <c:v>C#</c:v>
                </c:pt>
                <c:pt idx="2">
                  <c:v>Bash/Shell</c:v>
                </c:pt>
                <c:pt idx="3">
                  <c:v>Go</c:v>
                </c:pt>
                <c:pt idx="4">
                  <c:v>Rust</c:v>
                </c:pt>
                <c:pt idx="5">
                  <c:v>TypeScript</c:v>
                </c:pt>
                <c:pt idx="6">
                  <c:v>HTML/CSS</c:v>
                </c:pt>
                <c:pt idx="7">
                  <c:v>SQL</c:v>
                </c:pt>
                <c:pt idx="8">
                  <c:v>JavaScript</c:v>
                </c:pt>
                <c:pt idx="9">
                  <c:v>Python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10873</c:v>
                </c:pt>
                <c:pt idx="1">
                  <c:v>12921</c:v>
                </c:pt>
                <c:pt idx="2">
                  <c:v>13744</c:v>
                </c:pt>
                <c:pt idx="3">
                  <c:v>13837</c:v>
                </c:pt>
                <c:pt idx="4">
                  <c:v>17232</c:v>
                </c:pt>
                <c:pt idx="5">
                  <c:v>20239</c:v>
                </c:pt>
                <c:pt idx="6">
                  <c:v>20721</c:v>
                </c:pt>
                <c:pt idx="7">
                  <c:v>22400</c:v>
                </c:pt>
                <c:pt idx="8">
                  <c:v>23774</c:v>
                </c:pt>
                <c:pt idx="9">
                  <c:v>25047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62626"/>
                  </a:solidFill>
                  <a:latin typeface="IBM Plex Sans"/>
                  <a:ea typeface="IBM Plex Sans"/>
                  <a:cs typeface="IBM Plex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7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Current use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62626"/>
              </a:solidFill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CurrentRespondents</c:v>
          </c:tx>
          <c:spPr>
            <a:solidFill xmlns:a="http://schemas.openxmlformats.org/drawingml/2006/main">
              <a:srgbClr val="145DA0"/>
            </a:solidFill>
          </c:spPr>
          <c:cat>
            <c:strRef>
              <c:f>'Chart Data'!$A$2:$A$11</c:f>
              <c:strCache>
                <c:ptCount val="10"/>
                <c:pt idx="0">
                  <c:v>Dynamodb</c:v>
                </c:pt>
                <c:pt idx="1">
                  <c:v>Oracle</c:v>
                </c:pt>
                <c:pt idx="2">
                  <c:v>Elasticsearch</c:v>
                </c:pt>
                <c:pt idx="3">
                  <c:v>MariaDB</c:v>
                </c:pt>
                <c:pt idx="4">
                  <c:v>Redis</c:v>
                </c:pt>
                <c:pt idx="5">
                  <c:v>MongoDB</c:v>
                </c:pt>
                <c:pt idx="6">
                  <c:v>Microsoft SQL Server</c:v>
                </c:pt>
                <c:pt idx="7">
                  <c:v>SQLite</c:v>
                </c:pt>
                <c:pt idx="8">
                  <c:v>MySQL</c:v>
                </c:pt>
                <c:pt idx="9">
                  <c:v>PostgreSQL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4138</c:v>
                </c:pt>
                <c:pt idx="1">
                  <c:v>5273</c:v>
                </c:pt>
                <c:pt idx="2">
                  <c:v>6533</c:v>
                </c:pt>
                <c:pt idx="3">
                  <c:v>8991</c:v>
                </c:pt>
                <c:pt idx="4">
                  <c:v>10463</c:v>
                </c:pt>
                <c:pt idx="5">
                  <c:v>13007</c:v>
                </c:pt>
                <c:pt idx="6">
                  <c:v>13275</c:v>
                </c:pt>
                <c:pt idx="7">
                  <c:v>17365</c:v>
                </c:pt>
                <c:pt idx="8">
                  <c:v>21099</c:v>
                </c:pt>
                <c:pt idx="9">
                  <c:v>25536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62626"/>
                  </a:solidFill>
                  <a:latin typeface="IBM Plex Sans"/>
                  <a:ea typeface="IBM Plex Sans"/>
                  <a:cs typeface="IBM Plex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7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Future interest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62626"/>
              </a:solidFill>
              <a:latin typeface="IBM Plex Sans"/>
              <a:ea typeface="IBM Plex Sans"/>
              <a:cs typeface="IBM Plex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DesiredRespondents</c:v>
          </c:tx>
          <c:spPr>
            <a:solidFill xmlns:a="http://schemas.openxmlformats.org/drawingml/2006/main">
              <a:srgbClr val="00847F"/>
            </a:solidFill>
          </c:spPr>
          <c:cat>
            <c:strRef>
              <c:f>'Chart Data'!$A$2:$A$11</c:f>
              <c:strCache>
                <c:ptCount val="10"/>
                <c:pt idx="0">
                  <c:v>Supabase</c:v>
                </c:pt>
                <c:pt idx="1">
                  <c:v>Dynamodb</c:v>
                </c:pt>
                <c:pt idx="2">
                  <c:v>MariaDB</c:v>
                </c:pt>
                <c:pt idx="3">
                  <c:v>Elasticsearch</c:v>
                </c:pt>
                <c:pt idx="4">
                  <c:v>Microsoft SQL Server</c:v>
                </c:pt>
                <c:pt idx="5">
                  <c:v>Redis</c:v>
                </c:pt>
                <c:pt idx="6">
                  <c:v>MongoDB</c:v>
                </c:pt>
                <c:pt idx="7">
                  <c:v>MySQL</c:v>
                </c:pt>
                <c:pt idx="8">
                  <c:v>SQLite</c:v>
                </c:pt>
                <c:pt idx="9">
                  <c:v>PostgreSQL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2930</c:v>
                </c:pt>
                <c:pt idx="1">
                  <c:v>3503</c:v>
                </c:pt>
                <c:pt idx="2">
                  <c:v>5947</c:v>
                </c:pt>
                <c:pt idx="3">
                  <c:v>6246</c:v>
                </c:pt>
                <c:pt idx="4">
                  <c:v>7905</c:v>
                </c:pt>
                <c:pt idx="5">
                  <c:v>10847</c:v>
                </c:pt>
                <c:pt idx="6">
                  <c:v>10982</c:v>
                </c:pt>
                <c:pt idx="7">
                  <c:v>12269</c:v>
                </c:pt>
                <c:pt idx="8">
                  <c:v>13489</c:v>
                </c:pt>
                <c:pt idx="9">
                  <c:v>24005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62626"/>
                  </a:solidFill>
                  <a:latin typeface="IBM Plex Sans"/>
                  <a:ea typeface="IBM Plex Sans"/>
                  <a:cs typeface="IBM Plex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7E7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Developer technology trends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CEE7488-E004-4B31-9072-F2368645AB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8e1a9086c44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9811" y="1600200"/>
            <a:ext cx="5038015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9C95B-764B-4F26-87D5-82F4295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762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Dakshesh Gautam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10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IBM Data Analyst Capstone</a:t>
            </a:r>
          </a:p>
        </p:txBody>
      </p:sp>
    </p:spTree>
    <p:extLst>
      <p:ext uri="{BB962C8B-B14F-4D97-AF65-F5344CB8AC3E}">
        <p14:creationId xmlns:p14="http://schemas.microsoft.com/office/powerpoint/2010/main" val="40097309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CEC91C60-F0F4-4DB6-860E-E1A5CD86D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70bbc1b0f41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0711" y="2025672"/>
            <a:ext cx="3194581" cy="3194581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164"/>
            <a:ext cx="10515600" cy="61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lvl1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OUTLINE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91F61-CF55-4E8B-BA4A-4E81C004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9275"/>
            <a:ext cx="51816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Executive 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Introduction and methodology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Collection and survey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Dashboard 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Discussion and implications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Conclusion and appendix</a:t>
            </a:r>
          </a:p>
        </p:txBody>
      </p:sp>
    </p:spTree>
    <p:extLst>
      <p:ext uri="{BB962C8B-B14F-4D97-AF65-F5344CB8AC3E}">
        <p14:creationId xmlns:p14="http://schemas.microsoft.com/office/powerpoint/2010/main" val="14532411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EXECUTIVE SUMMARY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24A1352-DD3C-4728-8DD8-9BD90EC354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5e4951adb4c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926" y="2136507"/>
            <a:ext cx="3194581" cy="319458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4A5EB-025D-489A-82C9-391F1580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695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65,437 unique respondents remain after removing 20 duplicate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JavaScript leads current language use at 57.3%. Python leads future interest at 38.3%.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PostgreSQL leads both database rankings.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These preferences describe a voluntary survey sample.</a:t>
            </a:r>
          </a:p>
        </p:txBody>
      </p:sp>
    </p:spTree>
    <p:extLst>
      <p:ext uri="{BB962C8B-B14F-4D97-AF65-F5344CB8AC3E}">
        <p14:creationId xmlns:p14="http://schemas.microsoft.com/office/powerpoint/2010/main" val="15553854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INTRODUCTION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A00C137-4FB1-4191-B57C-DE0F7411C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7ac0daa1449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347" y="2262036"/>
            <a:ext cx="3054361" cy="30543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36D2D-494A-4450-9E8D-52E8C4F2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695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Purpose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Compare current technology use with developers’ stated future interests.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Audience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Data analysts and teams planning skills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Value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Identify common technologies and compare preferences with the separate job and salary exercises.</a:t>
            </a:r>
          </a:p>
        </p:txBody>
      </p:sp>
    </p:spTree>
    <p:extLst>
      <p:ext uri="{BB962C8B-B14F-4D97-AF65-F5344CB8AC3E}">
        <p14:creationId xmlns:p14="http://schemas.microsoft.com/office/powerpoint/2010/main" val="20408633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METHODOLOGY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3DC4999-9905-491D-B9D8-FE10CB5CD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960ab555c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655" y="1831709"/>
            <a:ext cx="3194581" cy="319458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A18A1-B58D-4243-AB86-081B47CD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695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Collect the course jobs JSON through a local REST API and extract the salary HTML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Load 65,457 survey rows across 114 fields. Remove 20 exact duplicates.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Keep unanswered fields missing. Count each technology once per respondent.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Use positive compensation responses for the median. Apply an IQR filter only to its histogram.</a:t>
            </a:r>
          </a:p>
        </p:txBody>
      </p:sp>
    </p:spTree>
    <p:extLst>
      <p:ext uri="{BB962C8B-B14F-4D97-AF65-F5344CB8AC3E}">
        <p14:creationId xmlns:p14="http://schemas.microsoft.com/office/powerpoint/2010/main" val="3791692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RESULTS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075" y="1680153"/>
            <a:ext cx="70687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endParaRPr sz="2200"/>
          </a:p>
        </p:txBody>
      </p:sp>
      <p:pic>
        <p:nvPicPr>
          <p:cNvPr id="6" name="Graphic 5">
            <a:extLst xmlns:a="http://schemas.openxmlformats.org/drawingml/2006/main">
              <a:ext uri="{FF2B5EF4-FFF2-40B4-BE49-F238E27FC236}">
                <a16:creationId xmlns:a16="http://schemas.microsoft.com/office/drawing/2014/main" id="{3ECC6625-D1E0-48FA-8129-A4086D80B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eefbf9f564fca">
            <a:extLst>
              <a:ext uri="{96DAC541-7B7A-43D3-8B79-37D633B846F1}">
                <asvg:svgBlip xmlns:asvg="http://schemas.microsoft.com/office/drawing/2016/SVG/main" r:embed="R3f7c0cce2cea41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468" y="2101175"/>
            <a:ext cx="2972979" cy="297297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74854-1A46-4142-8F2F-6FFF4960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00325"/>
            <a:ext cx="723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Collection exercises and technology preferences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27,005 modified job records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10 rows in the salary exercise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65,437 unique survey respondents</a:t>
            </a:r>
          </a:p>
        </p:txBody>
      </p:sp>
    </p:spTree>
    <p:extLst>
      <p:ext uri="{BB962C8B-B14F-4D97-AF65-F5344CB8AC3E}">
        <p14:creationId xmlns:p14="http://schemas.microsoft.com/office/powerpoint/2010/main" val="15013274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JOB POSTINGS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3D04B80-E1EA-4C71-9A4C-3A3B52F512EC}"/>
              </a:ext>
            </a:extLst>
          </p:cNvPr>
          <p:cNvGraphicFramePr/>
          <p:nvPr/>
        </p:nvGraphicFramePr>
        <p:xfrm>
          <a:off xmlns:a="http://schemas.openxmlformats.org/drawingml/2006/main" x="838200" y="1562100"/>
          <a:ext xmlns:a="http://schemas.openxmlformats.org/drawingml/2006/main" cx="7239000" cy="4181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27eab69d5f438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A518A-2020-4051-B53E-D1C21999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43075"/>
            <a:ext cx="3000375" cy="398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Course API matching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C: 13,498 matches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Java: 2,609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Python: 1,173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Substring matching can combine distinct technologies. The CSV also provides a bounded comparison.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582AC-3507-4AE4-8607-E37764E8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Source: modified course jobs dataset, 27,005 records. Counts reflect course API substring matching.</a:t>
            </a:r>
          </a:p>
        </p:txBody>
      </p:sp>
    </p:spTree>
    <p:extLst>
      <p:ext uri="{BB962C8B-B14F-4D97-AF65-F5344CB8AC3E}">
        <p14:creationId xmlns:p14="http://schemas.microsoft.com/office/powerpoint/2010/main" val="19353738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POPULAR LANGUAGES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81F372B-D037-4544-BC72-E576CE08A604}"/>
              </a:ext>
            </a:extLst>
          </p:cNvPr>
          <p:cNvGraphicFramePr/>
          <p:nvPr/>
        </p:nvGraphicFramePr>
        <p:xfrm>
          <a:off xmlns:a="http://schemas.openxmlformats.org/drawingml/2006/main" x="838200" y="1600200"/>
          <a:ext xmlns:a="http://schemas.openxmlformats.org/drawingml/2006/main" cx="723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72ff6ff67a4e7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040CB-0131-49CD-9DCC-E308E13E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43075"/>
            <a:ext cx="3000375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Salary HTML exercise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Swift: $130,801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Python: $114,383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C++: $113,865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 supplied table omits its sample size, survey date and methodology.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B2CC5-24DF-49DA-B158-E996C40D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Source: supplied HTML salary table. Exercise values in USD, separate from survey compensation.</a:t>
            </a:r>
          </a:p>
        </p:txBody>
      </p:sp>
    </p:spTree>
    <p:extLst>
      <p:ext uri="{BB962C8B-B14F-4D97-AF65-F5344CB8AC3E}">
        <p14:creationId xmlns:p14="http://schemas.microsoft.com/office/powerpoint/2010/main" val="19459025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PROGRAMMING LANGUAGE TRENDS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B0255-B9C8-4666-9577-9D94C951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JavaScript leads current use. Python leads stated future interest.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1944A89D-4DC2-4E43-80B5-135B936B6CC9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51435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96916bbe034abd"/>
          </a:graphicData>
        </a:graphic>
      </p:graphicFrame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B2EE63AB-82EB-4DEE-9084-C46A721FC557}"/>
              </a:ext>
            </a:extLst>
          </p:cNvPr>
          <p:cNvGraphicFramePr/>
          <p:nvPr/>
        </p:nvGraphicFramePr>
        <p:xfrm>
          <a:off xmlns:a="http://schemas.openxmlformats.org/drawingml/2006/main" x="6210300" y="2095500"/>
          <a:ext xmlns:a="http://schemas.openxmlformats.org/drawingml/2006/main" cx="51435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420b4a1b8d40a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8237D-4B8A-44AB-9971-A0F12E3D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Respondent counts, top ten in each ranking. Multiple selections allowed. Unique respondents: 65,437.</a:t>
            </a:r>
          </a:p>
        </p:txBody>
      </p:sp>
    </p:spTree>
    <p:extLst>
      <p:ext uri="{BB962C8B-B14F-4D97-AF65-F5344CB8AC3E}">
        <p14:creationId xmlns:p14="http://schemas.microsoft.com/office/powerpoint/2010/main" val="36844674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LANGUAGE FINDINGS &amp; IMPLICATIONS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5F35-B860-4EB6-92A5-1D20F640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1316D-AA5F-42F4-AFA5-83936155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9530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JavaScript: 37,492 current users (57.3%).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Python: 25,047 future-interest mentions (38.3%).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SQL ranks among the four most common choices in both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AE058-D976-498C-BDF8-6CE1C729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Implications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50993-F4B8-4DA6-B0AF-70DFEB43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51816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Python and SQL provide relevant foundations for data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JavaScript remains relevant to web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Compare preferences with actual team needs before choosing a learning plan.</a:t>
            </a:r>
          </a:p>
        </p:txBody>
      </p:sp>
    </p:spTree>
    <p:extLst>
      <p:ext uri="{BB962C8B-B14F-4D97-AF65-F5344CB8AC3E}">
        <p14:creationId xmlns:p14="http://schemas.microsoft.com/office/powerpoint/2010/main" val="37012887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DATABASE TRENDS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D2BDF-8855-4006-BD7B-E9986CB6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9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PostgreSQL leads current use and future interest.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77BA122-6FC5-4137-BCD4-28B39C45D396}"/>
              </a:ext>
            </a:extLst>
          </p:cNvPr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51435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2ed56b9e1c4ee6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71E8E41-7398-461D-A83B-57A709BC9010}"/>
              </a:ext>
            </a:extLst>
          </p:cNvPr>
          <p:cNvGraphicFramePr/>
          <p:nvPr/>
        </p:nvGraphicFramePr>
        <p:xfrm>
          <a:off xmlns:a="http://schemas.openxmlformats.org/drawingml/2006/main" x="6210300" y="2095500"/>
          <a:ext xmlns:a="http://schemas.openxmlformats.org/drawingml/2006/main" cx="51435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c21b55649344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AA02B-0127-4B4B-A084-F55D3203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Respondent counts, top ten in each ranking. Multiple selections allowed. Unique respondents: 65,437.</a:t>
            </a:r>
          </a:p>
        </p:txBody>
      </p:sp>
    </p:spTree>
    <p:extLst>
      <p:ext uri="{BB962C8B-B14F-4D97-AF65-F5344CB8AC3E}">
        <p14:creationId xmlns:p14="http://schemas.microsoft.com/office/powerpoint/2010/main" val="15028874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DATABASE FINDINGS &amp; IMPLICATIONS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72E17-6C84-45B6-8C64-5B488662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309D6-6A56-4377-BF40-288FEF65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PostgreSQL: 25,536 current users and 24,005 future-interest mentions.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SQLite ranks second in future interest.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Redis interest exceeds current use by 384 mentions.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0EA37-36CE-42E6-977B-DAF9363A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Implications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5302D-B2C4-4EF0-9E2E-79F5AB1C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5181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SQL and relational database skills fit the most common preferences.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PostgreSQL offers a relevant practice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Selection also depends on workload and operating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1881259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DASHBOARD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45D19277-2328-4A00-BF20-466064F7F4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3059eedef46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475" y="1901819"/>
            <a:ext cx="3054361" cy="30543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47883-E84E-4284-BACB-AE67E5A3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6953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Three interactive portfolio 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Current Technology Usage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Future Technology Trends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Demographics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 accompanying HTML uses Plotly.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DAEB6-2AA2-47B7-97EF-24E5DE5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Portfolio dashboard. Course platform requirements and graded submission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752198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CURRENT TECHNOLOGY USAGE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7015D-980D-4055-BD8A-EEF6A21DB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e30860fa243cb"/>
          <a:stretch xmlns:a="http://schemas.openxmlformats.org/drawingml/2006/main"/>
        </p:blipFill>
        <p:spPr>
          <a:xfrm xmlns:a="http://schemas.openxmlformats.org/drawingml/2006/main">
            <a:off x="1345170" y="1476375"/>
            <a:ext cx="3796185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797E2-2AC0-4184-ACCB-339F7C9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816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JavaScript leads languages with 37,492 mentions.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PostgreSQL leads databases with 25,536 mentions.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AWS leads platforms. Node.js leads current web frameworks.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DAD5E-8209-4844-A417-6C3C0760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Screenshot of the accompanying local Plotly dashboard. Interactive charts and full labels are in dashboard.html.</a:t>
            </a:r>
          </a:p>
        </p:txBody>
      </p:sp>
    </p:spTree>
    <p:extLst>
      <p:ext uri="{BB962C8B-B14F-4D97-AF65-F5344CB8AC3E}">
        <p14:creationId xmlns:p14="http://schemas.microsoft.com/office/powerpoint/2010/main" val="24297367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FUTURE TECHNOLOGY TRENDS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62EB-05C5-42E0-B17A-59B7C22E2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422b20f4c4b68"/>
          <a:stretch xmlns:a="http://schemas.openxmlformats.org/drawingml/2006/main"/>
        </p:blipFill>
        <p:spPr>
          <a:xfrm xmlns:a="http://schemas.openxmlformats.org/drawingml/2006/main">
            <a:off x="1345170" y="1476375"/>
            <a:ext cx="3796185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7DB40-3CD4-4ED0-906D-05A1797C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816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Python leads languages with 25,047 mentions.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PostgreSQL leads databases with 24,005 mentions.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React leads future interest among web frameworks.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1E232-F23E-44FB-ABC5-7ED58A6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Screenshot of the accompanying local Plotly dashboard. Interactive charts and full labels are in dashboard.html.</a:t>
            </a:r>
          </a:p>
        </p:txBody>
      </p:sp>
    </p:spTree>
    <p:extLst>
      <p:ext uri="{BB962C8B-B14F-4D97-AF65-F5344CB8AC3E}">
        <p14:creationId xmlns:p14="http://schemas.microsoft.com/office/powerpoint/2010/main" val="20484966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RESPONDENT DEMOGRAPHICS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4A087-3DBC-4637-BD49-3F73F892E8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939d3524941ad"/>
          <a:stretch xmlns:a="http://schemas.openxmlformats.org/drawingml/2006/main"/>
        </p:blipFill>
        <p:spPr>
          <a:xfrm xmlns:a="http://schemas.openxmlformats.org/drawingml/2006/main">
            <a:off x="1504450" y="1476375"/>
            <a:ext cx="3477624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67CB0-D907-4517-8AE6-F3CBB7D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1816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 largest age band is 25–34 with 23,911 respondents (36.5%).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185 countries have reported responses. Another 6,507 respondents omit country.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Missing answers remain visible in the charts.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BC225-3AC6-46D8-A035-9DA9CD98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Screenshot of the accompanying local Plotly dashboard. Interactive charts and full labels are in dashboard.html.</a:t>
            </a:r>
          </a:p>
        </p:txBody>
      </p:sp>
    </p:spTree>
    <p:extLst>
      <p:ext uri="{BB962C8B-B14F-4D97-AF65-F5344CB8AC3E}">
        <p14:creationId xmlns:p14="http://schemas.microsoft.com/office/powerpoint/2010/main" val="240563622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DISCUSSION</a:t>
            </a:r>
          </a:p>
        </p:txBody>
      </p:sp>
      <p:pic>
        <p:nvPic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090AB9-84AB-40FA-88E7-BF76A231898F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080801ab34e743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282" y="2348628"/>
            <a:ext cx="3054361" cy="30543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0AD3-B5F4-44D2-976F-2B448BA2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630555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Current use and future interest answer different questions in the same survey. Differences do not measure adoption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Respondents select multiple technologies. Percentages therefore do not add to 100%.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Country and compensation coverage vary. Team planning needs context beyond these rankings.</a:t>
            </a:r>
          </a:p>
        </p:txBody>
      </p:sp>
    </p:spTree>
    <p:extLst>
      <p:ext uri="{BB962C8B-B14F-4D97-AF65-F5344CB8AC3E}">
        <p14:creationId xmlns:p14="http://schemas.microsoft.com/office/powerpoint/2010/main" val="85733354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OVERALL FINDINGS &amp; IMPLICATIONS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69DD5-6D10-40B3-B213-6B7F72D6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CC442-B313-47EE-91F9-467C8515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953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Python, SQL and PostgreSQL appear prominently in developer preferences.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 25–34 age band is the largest.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 modified jobs exercise depends strongly on its matching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60BBC-01A6-44A5-ABC0-40DBF8E3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8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Implications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3C382-2BFA-4428-A196-F99093E1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51816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Prioritize relevant foundations, then adapt to the team’s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Validate demand with a dated, representative jobs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Use consistent matching and disclose response coverage.</a:t>
            </a:r>
          </a:p>
        </p:txBody>
      </p:sp>
    </p:spTree>
    <p:extLst>
      <p:ext uri="{BB962C8B-B14F-4D97-AF65-F5344CB8AC3E}">
        <p14:creationId xmlns:p14="http://schemas.microsoft.com/office/powerpoint/2010/main" val="386563725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CONCLUSION</a:t>
            </a:r>
          </a:p>
        </p:txBody>
      </p:sp>
      <p:pic>
        <p:nvPicPr>
          <p:cNvPr id="13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8BD3DBA-813D-4710-B941-529C0D8BB36A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5aae0f34acd846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967" y="2113896"/>
            <a:ext cx="3054361" cy="305436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BB83B-7911-45E8-BAE1-8D7477BA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66865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JavaScript leads current language use. Python leads future interest.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PostgreSQL leads both database rankings.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A reproducible pipeline links the notebook, aggregate tables and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 results support descriptive comparisons within this survey sample.</a:t>
            </a:r>
          </a:p>
        </p:txBody>
      </p:sp>
    </p:spTree>
    <p:extLst>
      <p:ext uri="{BB962C8B-B14F-4D97-AF65-F5344CB8AC3E}">
        <p14:creationId xmlns:p14="http://schemas.microsoft.com/office/powerpoint/2010/main" val="84037823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52164"/>
            <a:ext cx="10515600" cy="611600"/>
          </a:xfr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defPPr>
          </a:lstStyle>
          <a:p xmlns:a="http://schemas.openxmlformats.org/drawingml/2006/main">
            <a:pPr>
              <a:def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defRPr>
            </a:pPr>
            <a:r>
              <a:rPr sz="4000" b="1">
                <a:solidFill>
                  <a:srgbClr val="525252"/>
                </a:solidFill>
                <a:latin typeface="IBM Plex Sans SemiBold"/>
                <a:ea typeface="IBM Plex Sans SemiBold"/>
                <a:cs typeface="IBM Plex Sans SemiBold"/>
              </a:rPr>
              <a:t>APPENDIX: DATA QUALITY</a:t>
            </a:r>
          </a:p>
        </p:txBody>
      </p:sp>
      <p:pic>
        <p:nvPicPr>
          <p:cNvPr id="11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07982D-0ECA-4096-8416-DCB48270600F}"/>
              </a:ext>
            </a:extLst>
          </p:cNvPr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00406ac52068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857" y="1849823"/>
            <a:ext cx="3194581" cy="319458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14657-7E5F-4BB5-904C-0B056D15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81175"/>
            <a:ext cx="67056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Compensation coverage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23,435 positive annual values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Median: USD 65,000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42,002 missing values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The histogram excludes 978 positive IQR outliers only for display. The median includes every positive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2200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Source links and calculation details appear in the accompanying notebook and README.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F44F4-BB67-4984-8497-206A809B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959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buNone/>
              <a:def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>
                <a:solidFill>
                  <a:srgbClr val="262626"/>
                </a:solidFill>
                <a:latin typeface="IBM Plex Sans"/>
                <a:ea typeface="IBM Plex Sans"/>
                <a:cs typeface="IBM Plex Sans"/>
              </a:rPr>
              <a:t>Analysis developed with AI assistance. Public source data and derived aggregates accompany the code.</a:t>
            </a:r>
          </a:p>
        </p:txBody>
      </p:sp>
    </p:spTree>
    <p:extLst>
      <p:ext uri="{BB962C8B-B14F-4D97-AF65-F5344CB8AC3E}">
        <p14:creationId xmlns:p14="http://schemas.microsoft.com/office/powerpoint/2010/main" val="1860158657"/>
      </p:ext>
    </p:extLst>
  </p:cSld>
</p:sld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IBM Skills Networ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2026-10-10T16:13:54.3970000Z</dcterms:created>
  <dcterms:modified xsi:type="dcterms:W3CDTF">2026-10-10T16:13:54.3970000Z</dcterms:modified>
</coreProperties>
</file>